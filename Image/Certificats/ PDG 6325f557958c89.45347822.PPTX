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12192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8968"/>
    <a:srgbClr val="FCD8B3"/>
    <a:srgbClr val="F9D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37" y="-1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4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25" indent="0" algn="ctr">
              <a:buNone/>
              <a:defRPr sz="1500"/>
            </a:lvl2pPr>
            <a:lvl3pPr marL="685850" indent="0" algn="ctr">
              <a:buNone/>
              <a:defRPr sz="1350"/>
            </a:lvl3pPr>
            <a:lvl4pPr marL="1028775" indent="0" algn="ctr">
              <a:buNone/>
              <a:defRPr sz="1201"/>
            </a:lvl4pPr>
            <a:lvl5pPr marL="1371700" indent="0" algn="ctr">
              <a:buNone/>
              <a:defRPr sz="1201"/>
            </a:lvl5pPr>
            <a:lvl6pPr marL="1714624" indent="0" algn="ctr">
              <a:buNone/>
              <a:defRPr sz="1201"/>
            </a:lvl6pPr>
            <a:lvl7pPr marL="2057550" indent="0" algn="ctr">
              <a:buNone/>
              <a:defRPr sz="1201"/>
            </a:lvl7pPr>
            <a:lvl8pPr marL="2400475" indent="0" algn="ctr">
              <a:buNone/>
              <a:defRPr sz="1201"/>
            </a:lvl8pPr>
            <a:lvl9pPr marL="2743399" indent="0" algn="ctr">
              <a:buNone/>
              <a:defRPr sz="1201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88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8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2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5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75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0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2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55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475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39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92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7"/>
            <a:ext cx="2914650" cy="773571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7"/>
            <a:ext cx="2914650" cy="773571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89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49115"/>
            <a:ext cx="5915025" cy="235655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25" indent="0">
              <a:buNone/>
              <a:defRPr sz="1500" b="1"/>
            </a:lvl2pPr>
            <a:lvl3pPr marL="685850" indent="0">
              <a:buNone/>
              <a:defRPr sz="1350" b="1"/>
            </a:lvl3pPr>
            <a:lvl4pPr marL="1028775" indent="0">
              <a:buNone/>
              <a:defRPr sz="1201" b="1"/>
            </a:lvl4pPr>
            <a:lvl5pPr marL="1371700" indent="0">
              <a:buNone/>
              <a:defRPr sz="1201" b="1"/>
            </a:lvl5pPr>
            <a:lvl6pPr marL="1714624" indent="0">
              <a:buNone/>
              <a:defRPr sz="1201" b="1"/>
            </a:lvl6pPr>
            <a:lvl7pPr marL="2057550" indent="0">
              <a:buNone/>
              <a:defRPr sz="1201" b="1"/>
            </a:lvl7pPr>
            <a:lvl8pPr marL="2400475" indent="0">
              <a:buNone/>
              <a:defRPr sz="1201" b="1"/>
            </a:lvl8pPr>
            <a:lvl9pPr marL="2743399" indent="0">
              <a:buNone/>
              <a:defRPr sz="1201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8"/>
            <a:ext cx="2901255" cy="6550379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25" indent="0">
              <a:buNone/>
              <a:defRPr sz="1500" b="1"/>
            </a:lvl2pPr>
            <a:lvl3pPr marL="685850" indent="0">
              <a:buNone/>
              <a:defRPr sz="1350" b="1"/>
            </a:lvl3pPr>
            <a:lvl4pPr marL="1028775" indent="0">
              <a:buNone/>
              <a:defRPr sz="1201" b="1"/>
            </a:lvl4pPr>
            <a:lvl5pPr marL="1371700" indent="0">
              <a:buNone/>
              <a:defRPr sz="1201" b="1"/>
            </a:lvl5pPr>
            <a:lvl6pPr marL="1714624" indent="0">
              <a:buNone/>
              <a:defRPr sz="1201" b="1"/>
            </a:lvl6pPr>
            <a:lvl7pPr marL="2057550" indent="0">
              <a:buNone/>
              <a:defRPr sz="1201" b="1"/>
            </a:lvl7pPr>
            <a:lvl8pPr marL="2400475" indent="0">
              <a:buNone/>
              <a:defRPr sz="1201" b="1"/>
            </a:lvl8pPr>
            <a:lvl9pPr marL="2743399" indent="0">
              <a:buNone/>
              <a:defRPr sz="1201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4453468"/>
            <a:ext cx="2915543" cy="6550379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59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23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25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1"/>
            </a:lvl1pPr>
            <a:lvl2pPr marL="342925" indent="0">
              <a:buNone/>
              <a:defRPr sz="1050"/>
            </a:lvl2pPr>
            <a:lvl3pPr marL="685850" indent="0">
              <a:buNone/>
              <a:defRPr sz="900"/>
            </a:lvl3pPr>
            <a:lvl4pPr marL="1028775" indent="0">
              <a:buNone/>
              <a:defRPr sz="750"/>
            </a:lvl4pPr>
            <a:lvl5pPr marL="1371700" indent="0">
              <a:buNone/>
              <a:defRPr sz="750"/>
            </a:lvl5pPr>
            <a:lvl6pPr marL="1714624" indent="0">
              <a:buNone/>
              <a:defRPr sz="750"/>
            </a:lvl6pPr>
            <a:lvl7pPr marL="2057550" indent="0">
              <a:buNone/>
              <a:defRPr sz="750"/>
            </a:lvl7pPr>
            <a:lvl8pPr marL="2400475" indent="0">
              <a:buNone/>
              <a:defRPr sz="750"/>
            </a:lvl8pPr>
            <a:lvl9pPr marL="2743399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68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25" indent="0">
              <a:buNone/>
              <a:defRPr sz="2100"/>
            </a:lvl2pPr>
            <a:lvl3pPr marL="685850" indent="0">
              <a:buNone/>
              <a:defRPr sz="1800"/>
            </a:lvl3pPr>
            <a:lvl4pPr marL="1028775" indent="0">
              <a:buNone/>
              <a:defRPr sz="1500"/>
            </a:lvl4pPr>
            <a:lvl5pPr marL="1371700" indent="0">
              <a:buNone/>
              <a:defRPr sz="1500"/>
            </a:lvl5pPr>
            <a:lvl6pPr marL="1714624" indent="0">
              <a:buNone/>
              <a:defRPr sz="1500"/>
            </a:lvl6pPr>
            <a:lvl7pPr marL="2057550" indent="0">
              <a:buNone/>
              <a:defRPr sz="1500"/>
            </a:lvl7pPr>
            <a:lvl8pPr marL="2400475" indent="0">
              <a:buNone/>
              <a:defRPr sz="1500"/>
            </a:lvl8pPr>
            <a:lvl9pPr marL="2743399" indent="0">
              <a:buNone/>
              <a:defRPr sz="15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1"/>
            </a:lvl1pPr>
            <a:lvl2pPr marL="342925" indent="0">
              <a:buNone/>
              <a:defRPr sz="1050"/>
            </a:lvl2pPr>
            <a:lvl3pPr marL="685850" indent="0">
              <a:buNone/>
              <a:defRPr sz="900"/>
            </a:lvl3pPr>
            <a:lvl4pPr marL="1028775" indent="0">
              <a:buNone/>
              <a:defRPr sz="750"/>
            </a:lvl4pPr>
            <a:lvl5pPr marL="1371700" indent="0">
              <a:buNone/>
              <a:defRPr sz="750"/>
            </a:lvl5pPr>
            <a:lvl6pPr marL="1714624" indent="0">
              <a:buNone/>
              <a:defRPr sz="750"/>
            </a:lvl6pPr>
            <a:lvl7pPr marL="2057550" indent="0">
              <a:buNone/>
              <a:defRPr sz="750"/>
            </a:lvl7pPr>
            <a:lvl8pPr marL="2400475" indent="0">
              <a:buNone/>
              <a:defRPr sz="750"/>
            </a:lvl8pPr>
            <a:lvl9pPr marL="2743399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41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19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4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9" y="649115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9" y="3245557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E4DB9-19FA-43EB-9F9C-389D7FEEB39D}" type="datetimeFigureOut">
              <a:rPr lang="fr-FR" smtClean="0"/>
              <a:t>15/07/2022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4" y="11300183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6556B-3ED1-4A20-B5F8-EBC38819A9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98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5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3" indent="-171463" algn="l" defTabSz="68585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88" indent="-171463" algn="l" defTabSz="6858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12" indent="-171463" algn="l" defTabSz="6858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37" indent="-171463" algn="l" defTabSz="6858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163" indent="-171463" algn="l" defTabSz="6858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087" indent="-171463" algn="l" defTabSz="6858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12" indent="-171463" algn="l" defTabSz="6858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938" indent="-171463" algn="l" defTabSz="6858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862" indent="-171463" algn="l" defTabSz="68585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5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25" algn="l" defTabSz="68585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50" algn="l" defTabSz="68585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75" algn="l" defTabSz="68585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00" algn="l" defTabSz="68585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24" algn="l" defTabSz="68585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50" algn="l" defTabSz="68585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475" algn="l" defTabSz="68585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399" algn="l" defTabSz="68585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69311" y="4385990"/>
            <a:ext cx="4572000" cy="2754775"/>
          </a:xfrm>
          <a:prstGeom prst="rect">
            <a:avLst/>
          </a:prstGeom>
          <a:noFill/>
          <a:ln>
            <a:noFill/>
          </a:ln>
          <a:effectLst>
            <a:outerShdw blurRad="101600" dist="139700" dir="8100000" algn="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8800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Solar </a:t>
            </a:r>
            <a:r>
              <a:rPr lang="fr-FR" sz="8800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Energy</a:t>
            </a:r>
            <a:endParaRPr lang="fr-FR" sz="8800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endParaRPr lang="fr-FR" sz="2801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fr-FR" sz="28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Monthly</a:t>
            </a:r>
            <a:r>
              <a:rPr lang="fr-FR" sz="2801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28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lang="fr-FR" sz="2801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fr-FR" sz="36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June</a:t>
            </a:r>
            <a:r>
              <a:rPr lang="fr-FR" sz="3601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2022</a:t>
            </a:r>
          </a:p>
          <a:p>
            <a:pPr algn="r"/>
            <a:r>
              <a:rPr lang="fr-FR" sz="1201" dirty="0" err="1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Powered</a:t>
            </a:r>
            <a:r>
              <a:rPr lang="fr-FR" sz="1201" dirty="0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</a:t>
            </a:r>
            <a:r>
              <a:rPr lang="fr-FR" sz="1201" b="1" dirty="0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SHARPE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44" y="274347"/>
            <a:ext cx="643077" cy="334148"/>
          </a:xfrm>
          <a:prstGeom prst="rect">
            <a:avLst/>
          </a:prstGeom>
        </p:spPr>
      </p:pic>
      <p:pic>
        <p:nvPicPr>
          <p:cNvPr id="1030" name="Picture 6" descr="Reservoir Su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904401"/>
            <a:ext cx="2699891" cy="116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12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69311" y="4385990"/>
            <a:ext cx="4572000" cy="2754775"/>
          </a:xfrm>
          <a:prstGeom prst="rect">
            <a:avLst/>
          </a:prstGeom>
          <a:noFill/>
          <a:ln>
            <a:noFill/>
          </a:ln>
          <a:effectLst>
            <a:outerShdw blurRad="101600" dist="139700" dir="8100000" algn="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8800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Solar </a:t>
            </a:r>
            <a:r>
              <a:rPr lang="fr-FR" sz="8800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Energy</a:t>
            </a:r>
            <a:endParaRPr lang="fr-FR" sz="8800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endParaRPr lang="fr-FR" sz="2801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fr-FR" sz="28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Monthly</a:t>
            </a:r>
            <a:r>
              <a:rPr lang="fr-FR" sz="2801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28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lang="fr-FR" sz="2801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fr-FR" sz="36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June</a:t>
            </a:r>
            <a:r>
              <a:rPr lang="fr-FR" sz="3601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2022</a:t>
            </a:r>
          </a:p>
          <a:p>
            <a:pPr algn="r"/>
            <a:r>
              <a:rPr lang="fr-FR" sz="1201" dirty="0" err="1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Powered</a:t>
            </a:r>
            <a:r>
              <a:rPr lang="fr-FR" sz="1201" dirty="0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</a:t>
            </a:r>
            <a:r>
              <a:rPr lang="fr-FR" sz="1201" b="1" dirty="0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SHARPE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44" y="274347"/>
            <a:ext cx="643077" cy="334148"/>
          </a:xfrm>
          <a:prstGeom prst="rect">
            <a:avLst/>
          </a:prstGeom>
        </p:spPr>
      </p:pic>
      <p:pic>
        <p:nvPicPr>
          <p:cNvPr id="1026" name="Picture 2" descr="DIF Capital Partn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269" y="1889761"/>
            <a:ext cx="6261493" cy="166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060" y="-357796"/>
            <a:ext cx="2445129" cy="159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6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69311" y="4385990"/>
            <a:ext cx="4572000" cy="2754775"/>
          </a:xfrm>
          <a:prstGeom prst="rect">
            <a:avLst/>
          </a:prstGeom>
          <a:noFill/>
          <a:ln>
            <a:noFill/>
          </a:ln>
          <a:effectLst>
            <a:outerShdw blurRad="101600" dist="139700" dir="8100000" algn="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8800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Solar </a:t>
            </a:r>
            <a:r>
              <a:rPr lang="fr-FR" sz="8800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Energy</a:t>
            </a:r>
            <a:endParaRPr lang="fr-FR" sz="8800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endParaRPr lang="fr-FR" sz="2801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fr-FR" sz="28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Monthly</a:t>
            </a:r>
            <a:r>
              <a:rPr lang="fr-FR" sz="2801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28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lang="fr-FR" sz="2801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fr-FR" sz="36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June</a:t>
            </a:r>
            <a:r>
              <a:rPr lang="fr-FR" sz="3601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2022</a:t>
            </a:r>
          </a:p>
          <a:p>
            <a:pPr algn="r"/>
            <a:r>
              <a:rPr lang="fr-FR" sz="1201" dirty="0" err="1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Powered</a:t>
            </a:r>
            <a:r>
              <a:rPr lang="fr-FR" sz="1201" dirty="0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</a:t>
            </a:r>
            <a:r>
              <a:rPr lang="fr-FR" sz="1201" b="1" dirty="0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SHARPE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44" y="274347"/>
            <a:ext cx="643077" cy="334148"/>
          </a:xfrm>
          <a:prstGeom prst="rect">
            <a:avLst/>
          </a:prstGeom>
        </p:spPr>
      </p:pic>
      <p:sp>
        <p:nvSpPr>
          <p:cNvPr id="4" name="AutoShape 6" descr="Reden Solar a émis en décembre un « Euro PP Green » de 45 millions d'euros  avec l'appui du groupe Crédit Agrico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="" xmlns:xdr="http://schemas.openxmlformats.org/drawingml/2006/spreadsheetDrawing" xmlns:a16="http://schemas.microsoft.com/office/drawing/2014/main" xmlns:lc="http://schemas.openxmlformats.org/drawingml/2006/lockedCanvas" id="{54675D3C-F1C4-46C5-8D21-FDC8B2110E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80" y="1983601"/>
            <a:ext cx="3896231" cy="149635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060" y="-357796"/>
            <a:ext cx="2445129" cy="159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4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69311" y="4385990"/>
            <a:ext cx="4572000" cy="2754775"/>
          </a:xfrm>
          <a:prstGeom prst="rect">
            <a:avLst/>
          </a:prstGeom>
          <a:noFill/>
          <a:ln>
            <a:noFill/>
          </a:ln>
          <a:effectLst>
            <a:outerShdw blurRad="101600" dist="139700" dir="8100000" algn="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8800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Solar </a:t>
            </a:r>
            <a:r>
              <a:rPr lang="fr-FR" sz="8800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Energy</a:t>
            </a:r>
            <a:endParaRPr lang="fr-FR" sz="8800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endParaRPr lang="fr-FR" sz="2801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fr-FR" sz="28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Monthly</a:t>
            </a:r>
            <a:r>
              <a:rPr lang="fr-FR" sz="2801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28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  <a:endParaRPr lang="fr-FR" sz="2801" dirty="0">
              <a:ln>
                <a:solidFill>
                  <a:srgbClr val="F9D6B2"/>
                </a:solidFill>
              </a:ln>
              <a:solidFill>
                <a:srgbClr val="FCD8B3"/>
              </a:solidFill>
              <a:latin typeface="Bahnschrift" panose="020B050204020402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fr-FR" sz="3601" dirty="0" err="1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June</a:t>
            </a:r>
            <a:r>
              <a:rPr lang="fr-FR" sz="3601" dirty="0">
                <a:ln>
                  <a:solidFill>
                    <a:srgbClr val="F9D6B2"/>
                  </a:solidFill>
                </a:ln>
                <a:solidFill>
                  <a:srgbClr val="FCD8B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2022</a:t>
            </a:r>
          </a:p>
          <a:p>
            <a:pPr algn="r"/>
            <a:r>
              <a:rPr lang="fr-FR" sz="1201" dirty="0" err="1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Powered</a:t>
            </a:r>
            <a:r>
              <a:rPr lang="fr-FR" sz="1201" dirty="0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</a:t>
            </a:r>
            <a:r>
              <a:rPr lang="fr-FR" sz="1201" b="1" dirty="0">
                <a:solidFill>
                  <a:srgbClr val="638968"/>
                </a:solidFill>
                <a:latin typeface="Bahnschrift" panose="020B050204020402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SHARPE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44" y="274347"/>
            <a:ext cx="643077" cy="334148"/>
          </a:xfrm>
          <a:prstGeom prst="rect">
            <a:avLst/>
          </a:prstGeom>
        </p:spPr>
      </p:pic>
      <p:sp>
        <p:nvSpPr>
          <p:cNvPr id="4" name="AutoShape 6" descr="Reden Solar a émis en décembre un « Euro PP Green » de 45 millions d'euros  avec l'appui du groupe Crédit Agrico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8986" y="-60933"/>
            <a:ext cx="8195818" cy="535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4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36</Words>
  <Application>Microsoft Office PowerPoint</Application>
  <PresentationFormat>Grand écran</PresentationFormat>
  <Paragraphs>20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Bahnschrift</vt:lpstr>
      <vt:lpstr>Calibri</vt:lpstr>
      <vt:lpstr>Calibri Light</vt:lpstr>
      <vt:lpstr>Tahoma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DELL</dc:creator>
  <cp:lastModifiedBy>DELL</cp:lastModifiedBy>
  <cp:revision>8</cp:revision>
  <cp:lastPrinted>2022-07-12T15:26:39Z</cp:lastPrinted>
  <dcterms:created xsi:type="dcterms:W3CDTF">2022-07-12T15:04:44Z</dcterms:created>
  <dcterms:modified xsi:type="dcterms:W3CDTF">2022-07-15T15:02:03Z</dcterms:modified>
</cp:coreProperties>
</file>